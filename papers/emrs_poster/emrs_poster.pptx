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275784" cy="4280306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275784" cy="21945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29635703" cy="914400"/>
          </a:xfrm>
          <a:prstGeom prst="rect">
            <a:avLst/>
          </a:prstGeom>
          <a:noFill/>
        </p:spPr>
        <p:txBody>
          <a:bodyPr wrap="square" lIns="274320" rIns="182880" tIns="73152" bIns="36576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</a:rPr>
              <a:t>Material Stack Discovery for BEOL-Compatible Quantum Electronic Nose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078992"/>
            <a:ext cx="29635703" cy="548640"/>
          </a:xfrm>
          <a:prstGeom prst="rect">
            <a:avLst/>
          </a:prstGeom>
          <a:noFill/>
        </p:spPr>
        <p:txBody>
          <a:bodyPr wrap="square" lIns="274320" rIns="182880" tIns="36576" bIns="18288">
            <a:spAutoFit/>
          </a:bodyPr>
          <a:lstStyle/>
          <a:p>
            <a:pPr algn="l"/>
            <a:r>
              <a:rPr sz="2700" b="0" i="0">
                <a:solidFill>
                  <a:srgbClr val="D6E8F7"/>
                </a:solidFill>
              </a:rPr>
              <a:t>Abhineet Agarwal  ·  Swaroop Ganguly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600200"/>
            <a:ext cx="29635703" cy="457200"/>
          </a:xfrm>
          <a:prstGeom prst="rect">
            <a:avLst/>
          </a:prstGeom>
          <a:noFill/>
        </p:spPr>
        <p:txBody>
          <a:bodyPr wrap="square" lIns="274320" rIns="182880" tIns="18288" bIns="18288">
            <a:spAutoFit/>
          </a:bodyPr>
          <a:lstStyle/>
          <a:p>
            <a:pPr algn="l"/>
            <a:r>
              <a:rPr sz="1700" b="0" i="1">
                <a:solidFill>
                  <a:srgbClr val="FFFFFF"/>
                </a:solidFill>
              </a:rPr>
              <a:t>Department of Electrical Engineering, Indian Institute of Technology Bombay, Mumbai, India   |   swaroop.ganguly@iitb.ac.in   |   EMRS Spring Meeting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377440"/>
            <a:ext cx="8869680" cy="9326880"/>
          </a:xfrm>
          <a:prstGeom prst="rect">
            <a:avLst/>
          </a:prstGeom>
          <a:solidFill>
            <a:srgbClr val="F4F4F6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2377440"/>
            <a:ext cx="8869680" cy="38404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" y="2395728"/>
            <a:ext cx="8759952" cy="365759"/>
          </a:xfrm>
          <a:prstGeom prst="rect">
            <a:avLst/>
          </a:prstGeom>
          <a:noFill/>
        </p:spPr>
        <p:txBody>
          <a:bodyPr wrap="square" lIns="109728" rIns="54864" tIns="36576" bIns="18288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Motivation: Room-Temperature IETS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2871216"/>
            <a:ext cx="8595359" cy="2194560"/>
          </a:xfrm>
          <a:prstGeom prst="rect">
            <a:avLst/>
          </a:prstGeom>
          <a:noFill/>
        </p:spPr>
        <p:txBody>
          <a:bodyPr wrap="square" tIns="54864" bIns="36576">
            <a:spAutoFit/>
          </a:bodyPr>
          <a:lstStyle/>
          <a:p>
            <a:pPr algn="l"/>
            <a:r>
              <a:rPr sz="1500" b="0" i="0">
                <a:solidFill>
                  <a:srgbClr val="3A3A3A"/>
                </a:solidFill>
              </a:rPr>
              <a:t>IETS identifies molecules via vibrational fingerprints — peaks in d²I/dV² at bias V = ℏω/e for each vibrational mode.</a:t>
            </a:r>
          </a:p>
          <a:p>
            <a:pPr algn="l"/>
          </a:p>
          <a:p>
            <a:pPr algn="l"/>
            <a:r>
              <a:rPr sz="1500" b="0" i="0">
                <a:solidFill>
                  <a:srgbClr val="3A3A3A"/>
                </a:solidFill>
              </a:rPr>
              <a:t>Fundamental problem.  Conventional MIM junctions require T &lt; 10 K: thermal broadening (~k_BT) washes out vibrational peaks [1].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79" y="5184648"/>
            <a:ext cx="8595359" cy="749808"/>
          </a:xfrm>
          <a:prstGeom prst="rect">
            <a:avLst/>
          </a:prstGeom>
          <a:solidFill>
            <a:srgbClr val="FAE5D9"/>
          </a:solidFill>
          <a:ln w="19050">
            <a:solidFill>
              <a:srgbClr val="C05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5184648"/>
            <a:ext cx="8595359" cy="749808"/>
          </a:xfrm>
          <a:prstGeom prst="rect">
            <a:avLst/>
          </a:prstGeom>
          <a:noFill/>
        </p:spPr>
        <p:txBody>
          <a:bodyPr wrap="square" lIns="164592" rIns="164592" tIns="109728" bIns="54864">
            <a:spAutoFit/>
          </a:bodyPr>
          <a:lstStyle/>
          <a:p>
            <a:pPr algn="l"/>
            <a:r>
              <a:rPr sz="1500" b="1" i="0">
                <a:solidFill>
                  <a:srgbClr val="C0562A"/>
                </a:solidFill>
              </a:rPr>
              <a:t>RTD solution [2]: the quantum-well resonance acts as an energy filter narrower than k_BT, restoring d²I/dV² peaks at 300 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6053328"/>
            <a:ext cx="8595359" cy="3840480"/>
          </a:xfrm>
          <a:prstGeom prst="rect">
            <a:avLst/>
          </a:prstGeom>
          <a:noFill/>
        </p:spPr>
        <p:txBody>
          <a:bodyPr wrap="square" tIns="54864" bIns="36576">
            <a:spAutoFit/>
          </a:bodyPr>
          <a:lstStyle/>
          <a:p>
            <a:pPr algn="l"/>
            <a:r>
              <a:rPr sz="1500" b="0" i="0">
                <a:solidFill>
                  <a:srgbClr val="3A3A3A"/>
                </a:solidFill>
              </a:rPr>
              <a:t>Remaining gap.  Patil's proof-of-concept [2] used GaAs/AlAs grown by MBE at &gt;700 °C — incompatible with CMOS back-end-of-line (BEOL).</a:t>
            </a:r>
          </a:p>
          <a:p>
            <a:pPr algn="l"/>
          </a:p>
          <a:p>
            <a:pPr algn="l"/>
            <a:r>
              <a:rPr sz="1500" b="1" i="0">
                <a:solidFill>
                  <a:srgbClr val="1A3A5C"/>
                </a:solidFill>
              </a:rPr>
              <a:t>This work:</a:t>
            </a:r>
          </a:p>
          <a:p>
            <a:pPr algn="l"/>
            <a:r>
              <a:rPr sz="1500" b="0" i="0">
                <a:solidFill>
                  <a:srgbClr val="3A3A3A"/>
                </a:solidFill>
              </a:rPr>
              <a:t>Systematic computational screening of 12 oxide heterostructures (all ALD/sputtering, &lt;400 °C) to identify BEOL-compatible stacks for room-temperature RTD-IETS molecular sensing.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1868911"/>
            <a:ext cx="8869680" cy="9326880"/>
          </a:xfrm>
          <a:prstGeom prst="rect">
            <a:avLst/>
          </a:prstGeom>
          <a:solidFill>
            <a:srgbClr val="F4F4F6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11868911"/>
            <a:ext cx="8869680" cy="38404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" y="11887199"/>
            <a:ext cx="8759952" cy="365759"/>
          </a:xfrm>
          <a:prstGeom prst="rect">
            <a:avLst/>
          </a:prstGeom>
          <a:noFill/>
        </p:spPr>
        <p:txBody>
          <a:bodyPr wrap="square" lIns="109728" rIns="54864" tIns="36576" bIns="18288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Material Selection Criteria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79" y="12417551"/>
            <a:ext cx="8595359" cy="822960"/>
          </a:xfrm>
          <a:prstGeom prst="rect">
            <a:avLst/>
          </a:prstGeom>
          <a:noFill/>
        </p:spPr>
        <p:txBody>
          <a:bodyPr wrap="square" tIns="54864" bIns="36576">
            <a:sp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1.  BEOL compatibility: process temperature &lt; 400 °C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79" y="13240511"/>
            <a:ext cx="8595359" cy="822960"/>
          </a:xfrm>
          <a:prstGeom prst="rect">
            <a:avLst/>
          </a:prstGeom>
          <a:noFill/>
        </p:spPr>
        <p:txBody>
          <a:bodyPr wrap="square" tIns="54864" bIns="36576">
            <a:sp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2.  Band offset: CBO ≈ 0.5 eV — aligns V_res with molecular vibrations (50–400 meV)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79" y="14063472"/>
            <a:ext cx="8595359" cy="822960"/>
          </a:xfrm>
          <a:prstGeom prst="rect">
            <a:avLst/>
          </a:prstGeom>
          <a:noFill/>
        </p:spPr>
        <p:txBody>
          <a:bodyPr wrap="square" tIns="54864" bIns="36576">
            <a:sp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3.  Effective mass: enables quantum confinement in practical barrier/well widths (1–3 nm)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79" y="14886431"/>
            <a:ext cx="8595359" cy="822960"/>
          </a:xfrm>
          <a:prstGeom prst="rect">
            <a:avLst/>
          </a:prstGeom>
          <a:noFill/>
        </p:spPr>
        <p:txBody>
          <a:bodyPr wrap="square" tIns="54864" bIns="36576">
            <a:sp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4.  Mature deposition: ALD or sputtering with demonstrated thickness uniformity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79" y="15709391"/>
            <a:ext cx="8595359" cy="822960"/>
          </a:xfrm>
          <a:prstGeom prst="rect">
            <a:avLst/>
          </a:prstGeom>
          <a:noFill/>
        </p:spPr>
        <p:txBody>
          <a:bodyPr wrap="square" tIns="54864" bIns="36576">
            <a:sp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5.  Integration readiness: prior use in semiconductor industry processes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79" y="17465039"/>
            <a:ext cx="8595359" cy="1463040"/>
          </a:xfrm>
          <a:prstGeom prst="rect">
            <a:avLst/>
          </a:prstGeom>
          <a:noFill/>
        </p:spPr>
        <p:txBody>
          <a:bodyPr wrap="square" tIns="54864" bIns="36576">
            <a:spAutoFit/>
          </a:bodyPr>
          <a:lstStyle/>
          <a:p>
            <a:pPr algn="l"/>
            <a:r>
              <a:rPr sz="1400" b="1" i="0">
                <a:solidFill>
                  <a:srgbClr val="1A3A5C"/>
                </a:solidFill>
              </a:rPr>
              <a:t>Well materials screened:</a:t>
            </a:r>
          </a:p>
          <a:p>
            <a:pPr algn="l"/>
            <a:r>
              <a:rPr sz="1400" b="0" i="0">
                <a:solidFill>
                  <a:srgbClr val="3A3A3A"/>
                </a:solidFill>
              </a:rPr>
              <a:t>In₂O₃ (m*=0.30, LO 70 meV),  IGZO (m*=0.34, LO 60 meV),  ZnO (m*=0.28, LO 72 meV),  SnO₂ (m*=0.25, LO 75 meV)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79" y="19110960"/>
            <a:ext cx="8595359" cy="1463040"/>
          </a:xfrm>
          <a:prstGeom prst="rect">
            <a:avLst/>
          </a:prstGeom>
          <a:noFill/>
        </p:spPr>
        <p:txBody>
          <a:bodyPr wrap="square" tIns="54864" bIns="36576">
            <a:spAutoFit/>
          </a:bodyPr>
          <a:lstStyle/>
          <a:p>
            <a:pPr algn="l"/>
            <a:r>
              <a:rPr sz="1400" b="1" i="0">
                <a:solidFill>
                  <a:srgbClr val="1A3A5C"/>
                </a:solidFill>
              </a:rPr>
              <a:t>Barrier materials screened:</a:t>
            </a:r>
          </a:p>
          <a:p>
            <a:pPr algn="l"/>
            <a:r>
              <a:rPr sz="1400" b="0" i="0">
                <a:solidFill>
                  <a:srgbClr val="3A3A3A"/>
                </a:solidFill>
              </a:rPr>
              <a:t>Al₂O₃ (CBO 2.8–3.0 eV),  HfO₂ (CBO 2.0–2.3 eV),  Ga₂O₃ polymorphs (CBO 0.07–0.61 eV),  MgZnO (CBO = 1.57·x_Mg, tunable)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1360384"/>
            <a:ext cx="8869680" cy="21259800"/>
          </a:xfrm>
          <a:prstGeom prst="rect">
            <a:avLst/>
          </a:prstGeom>
          <a:solidFill>
            <a:srgbClr val="F4F4F6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21360384"/>
            <a:ext cx="8869680" cy="38404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9184" y="21378672"/>
            <a:ext cx="8759952" cy="365759"/>
          </a:xfrm>
          <a:prstGeom prst="rect">
            <a:avLst/>
          </a:prstGeom>
          <a:noFill/>
        </p:spPr>
        <p:txBody>
          <a:bodyPr wrap="square" lIns="109728" rIns="54864" tIns="36576" bIns="18288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Key Insight: The CBO ≈ 0.5 eV Design Rule</a:t>
            </a:r>
          </a:p>
        </p:txBody>
      </p:sp>
      <p:pic>
        <p:nvPicPr>
          <p:cNvPr id="26" name="Picture 25" descr="design_rule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21881592"/>
            <a:ext cx="8540496" cy="508334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11479" y="27102094"/>
            <a:ext cx="8595359" cy="2286000"/>
          </a:xfrm>
          <a:prstGeom prst="rect">
            <a:avLst/>
          </a:prstGeom>
          <a:noFill/>
        </p:spPr>
        <p:txBody>
          <a:bodyPr wrap="square" tIns="54864" bIns="36576">
            <a:sp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High-CBO oxides resonate at 3–5 V, far outside the molecular vibration window (50–400 mV). Only low-CBO stacks (CBO ≈ 0.5 eV) bring V_res into the sensing range.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400032" y="2377440"/>
            <a:ext cx="11247120" cy="13898880"/>
          </a:xfrm>
          <a:prstGeom prst="rect">
            <a:avLst/>
          </a:prstGeom>
          <a:solidFill>
            <a:srgbClr val="F4F4F6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400032" y="2377440"/>
            <a:ext cx="11247120" cy="38404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54896" y="2395728"/>
            <a:ext cx="11137392" cy="365759"/>
          </a:xfrm>
          <a:prstGeom prst="rect">
            <a:avLst/>
          </a:prstGeom>
          <a:noFill/>
        </p:spPr>
        <p:txBody>
          <a:bodyPr wrap="square" lIns="109728" rIns="54864" tIns="36576" bIns="18288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Material Survey: Simulation Results (300 K, Symmetric RTD)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37192" y="2871216"/>
            <a:ext cx="10972800" cy="685800"/>
          </a:xfrm>
          <a:prstGeom prst="rect">
            <a:avLst/>
          </a:prstGeom>
          <a:noFill/>
        </p:spPr>
        <p:txBody>
          <a:bodyPr wrap="square" tIns="54864" bIns="36576">
            <a:spAutoFit/>
          </a:bodyPr>
          <a:lstStyle/>
          <a:p>
            <a:pPr algn="l"/>
            <a:r>
              <a:rPr sz="1300" b="0" i="0">
                <a:solidFill>
                  <a:srgbClr val="3A3A3A"/>
                </a:solidFill>
              </a:rPr>
              <a:t>All devices: 10 nm n⁺ contacts / barrier / 3 nm well / barrier / 10 nm n⁺ contacts. High-barrier stacks show artifact PVCR only.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9537192" y="3630168"/>
          <a:ext cx="10972798" cy="640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3574"/>
                <a:gridCol w="1533832"/>
                <a:gridCol w="2005780"/>
                <a:gridCol w="2005780"/>
                <a:gridCol w="1533832"/>
              </a:tblGrid>
              <a:tr h="711200"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</a:rPr>
                        <a:t>Stack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</a:rPr>
                        <a:t>CBO (eV)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</a:rPr>
                        <a:t>E_res (meV)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</a:rPr>
                        <a:t>V_peak (V)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</a:rPr>
                        <a:t>PVCR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</a:tr>
              <a:tr h="711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</a:rPr>
                        <a:t>In₂O₃/Al₂O₃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000000"/>
                          </a:solidFill>
                        </a:rPr>
                        <a:t>2.8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000000"/>
                          </a:solidFill>
                        </a:rPr>
                        <a:t>&gt;2000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000000"/>
                          </a:solidFill>
                        </a:rPr>
                        <a:t>4–5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000000"/>
                          </a:solidFill>
                        </a:rPr>
                        <a:t>~1†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</a:tr>
              <a:tr h="711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</a:rPr>
                        <a:t>In₂O₃/HfO₂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000000"/>
                          </a:solidFill>
                        </a:rPr>
                        <a:t>2.0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000000"/>
                          </a:solidFill>
                        </a:rPr>
                        <a:t>&gt;2000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000000"/>
                          </a:solidFill>
                        </a:rPr>
                        <a:t>3–4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000000"/>
                          </a:solidFill>
                        </a:rPr>
                        <a:t>~1†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</a:tr>
              <a:tr h="711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</a:rPr>
                        <a:t>In₂O₃/β-Ga₂O₃ (2 nm)</a:t>
                      </a:r>
                    </a:p>
                  </a:txBody>
                  <a:tcPr>
                    <a:solidFill>
                      <a:srgbClr val="FFFD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000000"/>
                          </a:solidFill>
                        </a:rPr>
                        <a:t>0.07</a:t>
                      </a:r>
                    </a:p>
                  </a:txBody>
                  <a:tcPr>
                    <a:solidFill>
                      <a:srgbClr val="FFFD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000000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FFFD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000000"/>
                          </a:solidFill>
                        </a:rPr>
                        <a:t>1.43</a:t>
                      </a:r>
                    </a:p>
                  </a:txBody>
                  <a:tcPr>
                    <a:solidFill>
                      <a:srgbClr val="FFFD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000000"/>
                          </a:solidFill>
                        </a:rPr>
                        <a:t>1.33</a:t>
                      </a:r>
                    </a:p>
                  </a:txBody>
                  <a:tcPr>
                    <a:solidFill>
                      <a:srgbClr val="FFFDE7"/>
                    </a:solidFill>
                  </a:tcPr>
                </a:tc>
              </a:tr>
              <a:tr h="711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</a:rPr>
                        <a:t>In₂O₃/β-Ga₂O₃ (1 nm)</a:t>
                      </a:r>
                    </a:p>
                  </a:txBody>
                  <a:tcPr>
                    <a:solidFill>
                      <a:srgbClr val="FFFD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000000"/>
                          </a:solidFill>
                        </a:rPr>
                        <a:t>0.07</a:t>
                      </a:r>
                    </a:p>
                  </a:txBody>
                  <a:tcPr>
                    <a:solidFill>
                      <a:srgbClr val="FFFD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000000"/>
                          </a:solidFill>
                        </a:rPr>
                        <a:t>53</a:t>
                      </a:r>
                    </a:p>
                  </a:txBody>
                  <a:tcPr>
                    <a:solidFill>
                      <a:srgbClr val="FFFD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000000"/>
                          </a:solidFill>
                        </a:rPr>
                        <a:t>1.48</a:t>
                      </a:r>
                    </a:p>
                  </a:txBody>
                  <a:tcPr>
                    <a:solidFill>
                      <a:srgbClr val="FFFD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000000"/>
                          </a:solidFill>
                        </a:rPr>
                        <a:t>1.05</a:t>
                      </a:r>
                    </a:p>
                  </a:txBody>
                  <a:tcPr>
                    <a:solidFill>
                      <a:srgbClr val="FFFDE7"/>
                    </a:solidFill>
                  </a:tcPr>
                </a:tc>
              </a:tr>
              <a:tr h="711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</a:rPr>
                        <a:t>In₂O₃/κ-Ga₂O₃ (2 nm)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000000"/>
                          </a:solidFill>
                        </a:rPr>
                        <a:t>0.45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000000"/>
                          </a:solidFill>
                        </a:rPr>
                        <a:t>278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000000"/>
                          </a:solidFill>
                        </a:rPr>
                        <a:t>1.18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000000"/>
                          </a:solidFill>
                        </a:rPr>
                        <a:t>3.55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</a:tr>
              <a:tr h="711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</a:rPr>
                        <a:t>In₂O₃/κ-Ga₂O₃ (1 nm)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000000"/>
                          </a:solidFill>
                        </a:rPr>
                        <a:t>0.45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000000"/>
                          </a:solidFill>
                        </a:rPr>
                        <a:t>177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000000"/>
                          </a:solidFill>
                        </a:rPr>
                        <a:t>1.10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000000"/>
                          </a:solidFill>
                        </a:rPr>
                        <a:t>3.50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</a:tr>
              <a:tr h="711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</a:rPr>
                        <a:t>In₂O₃/κ-Ga₂O₃ (asym)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000000"/>
                          </a:solidFill>
                        </a:rPr>
                        <a:t>0.45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000000"/>
                          </a:solidFill>
                        </a:rPr>
                        <a:t>402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000000"/>
                          </a:solidFill>
                        </a:rPr>
                        <a:t>1.33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000000"/>
                          </a:solidFill>
                        </a:rPr>
                        <a:t>2.80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</a:tr>
              <a:tr h="71120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A3A5C"/>
                          </a:solidFill>
                        </a:rPr>
                        <a:t>ZnO/Mg₀.₃Zn₀.₇O (2 nm)</a:t>
                      </a:r>
                    </a:p>
                  </a:txBody>
                  <a:tcPr>
                    <a:solidFill>
                      <a:srgbClr val="DCF0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1A3A5C"/>
                          </a:solidFill>
                        </a:rPr>
                        <a:t>0.47</a:t>
                      </a:r>
                    </a:p>
                  </a:txBody>
                  <a:tcPr>
                    <a:solidFill>
                      <a:srgbClr val="DCF0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1A3A5C"/>
                          </a:solidFill>
                        </a:rPr>
                        <a:t>290</a:t>
                      </a:r>
                    </a:p>
                  </a:txBody>
                  <a:tcPr>
                    <a:solidFill>
                      <a:srgbClr val="DCF0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1A3A5C"/>
                          </a:solidFill>
                        </a:rPr>
                        <a:t>1.10</a:t>
                      </a:r>
                    </a:p>
                  </a:txBody>
                  <a:tcPr>
                    <a:solidFill>
                      <a:srgbClr val="DCF0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1A3A5C"/>
                          </a:solidFill>
                        </a:rPr>
                        <a:t>6.32</a:t>
                      </a:r>
                    </a:p>
                  </a:txBody>
                  <a:tcPr>
                    <a:solidFill>
                      <a:srgbClr val="DCF0FB"/>
                    </a:solidFill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9537192" y="10149840"/>
            <a:ext cx="10972800" cy="411480"/>
          </a:xfrm>
          <a:prstGeom prst="rect">
            <a:avLst/>
          </a:prstGeom>
          <a:noFill/>
        </p:spPr>
        <p:txBody>
          <a:bodyPr wrap="square" tIns="54864" bIns="36576">
            <a:spAutoFit/>
          </a:bodyPr>
          <a:lstStyle/>
          <a:p>
            <a:pPr algn="l"/>
            <a:r>
              <a:rPr sz="1100" b="0" i="1">
                <a:solidFill>
                  <a:srgbClr val="3A3A3A"/>
                </a:solidFill>
              </a:rPr>
              <a:t>† Artifact — resonance outside molecular vibration window; not physical NDR.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537192" y="10671048"/>
            <a:ext cx="237744" cy="201168"/>
          </a:xfrm>
          <a:prstGeom prst="rect">
            <a:avLst/>
          </a:prstGeom>
          <a:solidFill>
            <a:srgbClr val="FDECEA"/>
          </a:solidFill>
          <a:ln w="635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11512" y="10625328"/>
            <a:ext cx="16002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A3A3A"/>
                </a:solidFill>
              </a:rPr>
              <a:t>Outside window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411712" y="10671048"/>
            <a:ext cx="237744" cy="201168"/>
          </a:xfrm>
          <a:prstGeom prst="rect">
            <a:avLst/>
          </a:prstGeom>
          <a:solidFill>
            <a:srgbClr val="FFFDE7"/>
          </a:solidFill>
          <a:ln w="635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686032" y="10625328"/>
            <a:ext cx="16002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A3A3A"/>
                </a:solidFill>
              </a:rPr>
              <a:t>CBO too low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3286232" y="10671048"/>
            <a:ext cx="237744" cy="201168"/>
          </a:xfrm>
          <a:prstGeom prst="rect">
            <a:avLst/>
          </a:prstGeom>
          <a:solidFill>
            <a:srgbClr val="D6E8F7"/>
          </a:solidFill>
          <a:ln w="635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560552" y="10625328"/>
            <a:ext cx="16002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A3A3A"/>
                </a:solidFill>
              </a:rPr>
              <a:t>Good candidate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5160752" y="10671048"/>
            <a:ext cx="237744" cy="201168"/>
          </a:xfrm>
          <a:prstGeom prst="rect">
            <a:avLst/>
          </a:prstGeom>
          <a:solidFill>
            <a:srgbClr val="DCF0FB"/>
          </a:solidFill>
          <a:ln w="635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5435072" y="10625328"/>
            <a:ext cx="16002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A3A3A"/>
                </a:solidFill>
              </a:rPr>
              <a:t>Selected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537192" y="11082528"/>
            <a:ext cx="10972800" cy="777240"/>
          </a:xfrm>
          <a:prstGeom prst="rect">
            <a:avLst/>
          </a:prstGeom>
          <a:solidFill>
            <a:srgbClr val="FAE5D9"/>
          </a:solidFill>
          <a:ln w="19050">
            <a:solidFill>
              <a:srgbClr val="C05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37192" y="11082528"/>
            <a:ext cx="10972800" cy="777240"/>
          </a:xfrm>
          <a:prstGeom prst="rect">
            <a:avLst/>
          </a:prstGeom>
          <a:noFill/>
        </p:spPr>
        <p:txBody>
          <a:bodyPr wrap="square" lIns="164592" rIns="164592" tIns="109728" bIns="54864">
            <a:spAutoFit/>
          </a:bodyPr>
          <a:lstStyle/>
          <a:p>
            <a:pPr algn="l"/>
            <a:r>
              <a:rPr sz="1400" b="1" i="0">
                <a:solidFill>
                  <a:srgbClr val="C0562A"/>
                </a:solidFill>
              </a:rPr>
              <a:t>ZnO/Mg₀.₃Zn₀.₇O has the highest PVCR (6.3, comparable to III-V RTDs), demonstrated experimental NDR [3,4], and lowest process temperature (&lt;350 °C).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400032" y="16440912"/>
            <a:ext cx="11247120" cy="8046720"/>
          </a:xfrm>
          <a:prstGeom prst="rect">
            <a:avLst/>
          </a:prstGeom>
          <a:solidFill>
            <a:srgbClr val="F4F4F6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400032" y="16440912"/>
            <a:ext cx="11247120" cy="38404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454896" y="16459200"/>
            <a:ext cx="11137392" cy="365759"/>
          </a:xfrm>
          <a:prstGeom prst="rect">
            <a:avLst/>
          </a:prstGeom>
          <a:noFill/>
        </p:spPr>
        <p:txBody>
          <a:bodyPr wrap="square" lIns="109728" rIns="54864" tIns="36576" bIns="18288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Candidate Stacks: IETS Viability Criteria</a:t>
            </a:r>
          </a:p>
        </p:txBody>
      </p:sp>
      <p:graphicFrame>
        <p:nvGraphicFramePr>
          <p:cNvPr id="47" name="Table 46"/>
          <p:cNvGraphicFramePr>
            <a:graphicFrameLocks noGrp="1"/>
          </p:cNvGraphicFramePr>
          <p:nvPr/>
        </p:nvGraphicFramePr>
        <p:xfrm>
          <a:off x="9537192" y="16934688"/>
          <a:ext cx="10972797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0987"/>
                <a:gridCol w="1455575"/>
                <a:gridCol w="1455575"/>
                <a:gridCol w="1455575"/>
                <a:gridCol w="1455575"/>
                <a:gridCol w="1679510"/>
              </a:tblGrid>
              <a:tr h="822960"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</a:rPr>
                        <a:t>Stack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</a:rPr>
                        <a:t>CBO (eV)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</a:rPr>
                        <a:t>m*/m₀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</a:rPr>
                        <a:t>NDR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</a:rPr>
                        <a:t>BEOL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</a:rPr>
                        <a:t>Ref.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</a:rPr>
                        <a:t>AlGaAs/GaAs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000000"/>
                          </a:solidFill>
                        </a:rPr>
                        <a:t>0.23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000000"/>
                          </a:solidFill>
                        </a:rPr>
                        <a:t>0.067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2E7D32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C00000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000000"/>
                          </a:solidFill>
                        </a:rPr>
                        <a:t>[8]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</a:rPr>
                        <a:t>GaN/AlN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000000"/>
                          </a:solidFill>
                        </a:rPr>
                        <a:t>1.8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000000"/>
                          </a:solidFill>
                        </a:rPr>
                        <a:t>0.20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2E7D32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C00000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000000"/>
                          </a:solidFill>
                        </a:rPr>
                        <a:t>[9]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</a:rPr>
                        <a:t>In₂O₃/κ-Ga₂O₃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000000"/>
                          </a:solidFill>
                        </a:rPr>
                        <a:t>0.45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000000"/>
                          </a:solidFill>
                        </a:rPr>
                        <a:t>0.30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C00000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2E7D32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000000"/>
                          </a:solidFill>
                        </a:rPr>
                        <a:t>[10]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A3A5C"/>
                          </a:solidFill>
                        </a:rPr>
                        <a:t>ZnO/Mg₀.₃Zn₀.₇O</a:t>
                      </a:r>
                    </a:p>
                  </a:txBody>
                  <a:tcPr>
                    <a:solidFill>
                      <a:srgbClr val="DCF0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1A3A5C"/>
                          </a:solidFill>
                        </a:rPr>
                        <a:t>0.47</a:t>
                      </a:r>
                    </a:p>
                  </a:txBody>
                  <a:tcPr>
                    <a:solidFill>
                      <a:srgbClr val="DCF0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1A3A5C"/>
                          </a:solidFill>
                        </a:rPr>
                        <a:t>0.28</a:t>
                      </a:r>
                    </a:p>
                  </a:txBody>
                  <a:tcPr>
                    <a:solidFill>
                      <a:srgbClr val="DCF0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2E7D32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DCF0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2E7D32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DCF0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1A3A5C"/>
                          </a:solidFill>
                        </a:rPr>
                        <a:t>[3,4]</a:t>
                      </a:r>
                    </a:p>
                  </a:txBody>
                  <a:tcPr>
                    <a:solidFill>
                      <a:srgbClr val="DCF0FB"/>
                    </a:solidFill>
                  </a:tcPr>
                </a:tc>
              </a:tr>
            </a:tbl>
          </a:graphicData>
        </a:graphic>
      </p:graphicFrame>
      <p:sp>
        <p:nvSpPr>
          <p:cNvPr id="48" name="TextBox 47"/>
          <p:cNvSpPr txBox="1"/>
          <p:nvPr/>
        </p:nvSpPr>
        <p:spPr>
          <a:xfrm>
            <a:off x="9537192" y="21168360"/>
            <a:ext cx="10972800" cy="502920"/>
          </a:xfrm>
          <a:prstGeom prst="rect">
            <a:avLst/>
          </a:prstGeom>
          <a:noFill/>
        </p:spPr>
        <p:txBody>
          <a:bodyPr wrap="square" tIns="54864" bIns="36576">
            <a:spAutoFit/>
          </a:bodyPr>
          <a:lstStyle/>
          <a:p>
            <a:pPr algn="l"/>
            <a:r>
              <a:rPr sz="1100" b="0" i="1">
                <a:solidFill>
                  <a:srgbClr val="3A3A3A"/>
                </a:solidFill>
              </a:rPr>
              <a:t>‡ Ref. [3] uses x = 0.2; this work uses x = 0.3 (ΔEc = 1.57·x_Mg [12]).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37192" y="21808440"/>
            <a:ext cx="10972800" cy="1371600"/>
          </a:xfrm>
          <a:prstGeom prst="rect">
            <a:avLst/>
          </a:prstGeom>
          <a:noFill/>
        </p:spPr>
        <p:txBody>
          <a:bodyPr wrap="square" tIns="54864" bIns="36576">
            <a:sp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Only ZnO/Mg₀.₃Zn₀.₇O satisfies all three IETS criteria simultaneously: CBO in window, experimental NDR, and BEOL-compatible deposition.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400032" y="24652224"/>
            <a:ext cx="11247120" cy="17967960"/>
          </a:xfrm>
          <a:prstGeom prst="rect">
            <a:avLst/>
          </a:prstGeom>
          <a:solidFill>
            <a:srgbClr val="F4F4F6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400032" y="24652224"/>
            <a:ext cx="11247120" cy="38404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454896" y="24670512"/>
            <a:ext cx="11137392" cy="365759"/>
          </a:xfrm>
          <a:prstGeom prst="rect">
            <a:avLst/>
          </a:prstGeom>
          <a:noFill/>
        </p:spPr>
        <p:txBody>
          <a:bodyPr wrap="square" lIns="109728" rIns="54864" tIns="36576" bIns="18288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Simulation Methodology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537192" y="25173432"/>
            <a:ext cx="10972800" cy="3108960"/>
          </a:xfrm>
          <a:prstGeom prst="rect">
            <a:avLst/>
          </a:prstGeom>
          <a:solidFill>
            <a:srgbClr val="F4F4F6"/>
          </a:solidFill>
          <a:ln w="12700">
            <a:solidFill>
              <a:srgbClr val="2C6F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537192" y="25173432"/>
            <a:ext cx="10972800" cy="329184"/>
          </a:xfrm>
          <a:prstGeom prst="rect">
            <a:avLst/>
          </a:prstGeom>
          <a:solidFill>
            <a:srgbClr val="2C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28632" y="25173432"/>
            <a:ext cx="10789920" cy="329184"/>
          </a:xfrm>
          <a:prstGeom prst="rect">
            <a:avLst/>
          </a:prstGeom>
          <a:noFill/>
        </p:spPr>
        <p:txBody>
          <a:bodyPr wrap="square" lIns="109728" rIns="54864" tIns="36576" bIns="18288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1.  NEGF + Rank-1 SCBA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46919" y="25520904"/>
            <a:ext cx="10753344" cy="2706624"/>
          </a:xfrm>
          <a:prstGeom prst="rect">
            <a:avLst/>
          </a:prstGeom>
          <a:noFill/>
        </p:spPr>
        <p:txBody>
          <a:bodyPr wrap="square" tIns="54864" bIns="36576">
            <a:sp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Quasi-3D Non-Equilibrium Green's Function with self-consistent Born approximation. For a Gaussian molecular form factor (σ_mol = 3 Å ≪ L⊥), the coupling matrix is rank-1: M = D₀·χ(z)|u⟩⟨u|  (O(10⁻⁶) correction). Full 3D SCBA collapses to a single 1D projected Dyson equation, exact for any transverse grid size.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537192" y="28437840"/>
            <a:ext cx="10972800" cy="2834640"/>
          </a:xfrm>
          <a:prstGeom prst="rect">
            <a:avLst/>
          </a:prstGeom>
          <a:solidFill>
            <a:srgbClr val="F4F4F6"/>
          </a:solidFill>
          <a:ln w="12700">
            <a:solidFill>
              <a:srgbClr val="2C6F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537192" y="28437840"/>
            <a:ext cx="10972800" cy="329184"/>
          </a:xfrm>
          <a:prstGeom prst="rect">
            <a:avLst/>
          </a:prstGeom>
          <a:solidFill>
            <a:srgbClr val="2C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628632" y="28437840"/>
            <a:ext cx="10789920" cy="329184"/>
          </a:xfrm>
          <a:prstGeom prst="rect">
            <a:avLst/>
          </a:prstGeom>
          <a:noFill/>
        </p:spPr>
        <p:txBody>
          <a:bodyPr wrap="square" lIns="109728" rIns="54864" tIns="36576" bIns="18288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2.  Anderson Mixing (DIIS) [6]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646919" y="28785312"/>
            <a:ext cx="10753344" cy="2432304"/>
          </a:xfrm>
          <a:prstGeom prst="rect">
            <a:avLst/>
          </a:prstGeom>
          <a:noFill/>
        </p:spPr>
        <p:txBody>
          <a:bodyPr wrap="square" tIns="54864" bIns="36576">
            <a:sp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Fixed-point iteration diverges near NDR. History depth M = 8; solve min‖Σαᵢrᵢ‖², Σαᵢ = 1 at each step. 10–60 iterations at all 201 bias points; current conservation |I_L+I_R|/max|I| &lt; 0.2 %.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537192" y="31427928"/>
            <a:ext cx="10972800" cy="2423160"/>
          </a:xfrm>
          <a:prstGeom prst="rect">
            <a:avLst/>
          </a:prstGeom>
          <a:solidFill>
            <a:srgbClr val="F4F4F6"/>
          </a:solidFill>
          <a:ln w="12700">
            <a:solidFill>
              <a:srgbClr val="2C6F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537192" y="31427928"/>
            <a:ext cx="10972800" cy="329184"/>
          </a:xfrm>
          <a:prstGeom prst="rect">
            <a:avLst/>
          </a:prstGeom>
          <a:solidFill>
            <a:srgbClr val="2C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28632" y="31427928"/>
            <a:ext cx="10789920" cy="329184"/>
          </a:xfrm>
          <a:prstGeom prst="rect">
            <a:avLst/>
          </a:prstGeom>
          <a:noFill/>
        </p:spPr>
        <p:txBody>
          <a:bodyPr wrap="square" lIns="109728" rIns="54864" tIns="36576" bIns="18288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3.  Numerical d²I/dV²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646919" y="31775400"/>
            <a:ext cx="10753344" cy="2020824"/>
          </a:xfrm>
          <a:prstGeom prst="rect">
            <a:avLst/>
          </a:prstGeom>
          <a:noFill/>
        </p:spPr>
        <p:txBody>
          <a:bodyPr wrap="square" tIns="54864" bIns="36576">
            <a:sp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d²I/dV² computed by diff(diff(I))/dV² on the converged SCBA I(V) — exactly the procedure of Patil [2]. Self-consistent SCBA produces inherently smooth I(V); no smoothing applied.</a:t>
            </a:r>
          </a:p>
        </p:txBody>
      </p:sp>
      <p:pic>
        <p:nvPicPr>
          <p:cNvPr id="65" name="Picture 64" descr="fig3_flow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8632" y="34015680"/>
            <a:ext cx="10789920" cy="13341805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9537192" y="47403205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1">
                <a:solidFill>
                  <a:srgbClr val="3A3A3A"/>
                </a:solidFill>
              </a:rPr>
              <a:t>Fig. 1. Rank-1 projected NEGF–SCBA convergence loop.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0903184" y="2377440"/>
            <a:ext cx="9098280" cy="8229600"/>
          </a:xfrm>
          <a:prstGeom prst="rect">
            <a:avLst/>
          </a:prstGeom>
          <a:solidFill>
            <a:srgbClr val="F4F4F6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20903184" y="2377440"/>
            <a:ext cx="9098280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0958048" y="2395728"/>
            <a:ext cx="8988552" cy="365759"/>
          </a:xfrm>
          <a:prstGeom prst="rect">
            <a:avLst/>
          </a:prstGeom>
          <a:noFill/>
        </p:spPr>
        <p:txBody>
          <a:bodyPr wrap="square" lIns="109728" rIns="54864" tIns="36576" bIns="18288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Selected Stack: ZnO/Mg₀.₃Zn₀.₇O RTD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1040344" y="2871216"/>
            <a:ext cx="8823959" cy="1920240"/>
          </a:xfrm>
          <a:prstGeom prst="rect">
            <a:avLst/>
          </a:prstGeom>
          <a:noFill/>
        </p:spPr>
        <p:txBody>
          <a:bodyPr wrap="square" tIns="54864" bIns="36576">
            <a:sp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Symmetric 2 nm MgZnO / 3 nm ZnO / 2 nm MgZnO, 10 nm n⁺-ZnO contacts (N_D = 10²⁵ m⁻³).  ΔEc = 0.47 eV,  m* = 0.28 m₀,  ℏω_LO = 72 meV.  Single bound state E₁ = 149 meV; NDR at V_res ≈ 552 mV, peak ~72 nA, PVR ~6 (SCBA, 300 K).</a:t>
            </a:r>
          </a:p>
        </p:txBody>
      </p:sp>
      <p:pic>
        <p:nvPicPr>
          <p:cNvPr id="71" name="Picture 70" descr="fig2_band_di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40344" y="4910328"/>
            <a:ext cx="8823959" cy="3904708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21040344" y="8860756"/>
            <a:ext cx="8823959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 i="1">
                <a:solidFill>
                  <a:srgbClr val="3A3A3A"/>
                </a:solidFill>
              </a:rPr>
              <a:t>Fig. 2. Band diagram: (i) V = 0; (ii) resonance at 552 mV. Orange Gaussian χ(z): molecular coupling region.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0903184" y="10771632"/>
            <a:ext cx="9098280" cy="12070080"/>
          </a:xfrm>
          <a:prstGeom prst="rect">
            <a:avLst/>
          </a:prstGeom>
          <a:solidFill>
            <a:srgbClr val="F4F4F6"/>
          </a:solidFill>
          <a:ln w="12700">
            <a:solidFill>
              <a:srgbClr val="C05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20903184" y="10771632"/>
            <a:ext cx="9098280" cy="384048"/>
          </a:xfrm>
          <a:prstGeom prst="rect">
            <a:avLst/>
          </a:prstGeom>
          <a:solidFill>
            <a:srgbClr val="C05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0958048" y="10789919"/>
            <a:ext cx="8988552" cy="365759"/>
          </a:xfrm>
          <a:prstGeom prst="rect">
            <a:avLst/>
          </a:prstGeom>
          <a:noFill/>
        </p:spPr>
        <p:txBody>
          <a:bodyPr wrap="square" lIns="109728" rIns="54864" tIns="36576" bIns="18288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Key Result: Molecular Discrimination at 300 K</a:t>
            </a:r>
          </a:p>
        </p:txBody>
      </p:sp>
      <p:pic>
        <p:nvPicPr>
          <p:cNvPr id="76" name="Picture 75" descr="fig4_IV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040344" y="11265407"/>
            <a:ext cx="4357116" cy="3383718"/>
          </a:xfrm>
          <a:prstGeom prst="rect">
            <a:avLst/>
          </a:prstGeom>
        </p:spPr>
      </p:pic>
      <p:pic>
        <p:nvPicPr>
          <p:cNvPr id="77" name="Picture 76" descr="fig5_d2IdV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507188" y="11265407"/>
            <a:ext cx="4357116" cy="3442310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21040344" y="14707718"/>
            <a:ext cx="4357116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000" b="0" i="1">
                <a:solidFill>
                  <a:srgbClr val="3A3A3A"/>
                </a:solidFill>
              </a:rPr>
              <a:t>(a) I–V. NDR at ≈ 552 mV, PVR ~6. Molecule-specific ΔI in pre-NDR region.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5507188" y="14707718"/>
            <a:ext cx="4357116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000" b="0" i="1">
                <a:solidFill>
                  <a:srgbClr val="3A3A3A"/>
                </a:solidFill>
              </a:rPr>
              <a:t>(b) d²I/dV². Peaks at 100 mV (Mol A) and 180 mV (Mol B) at V = ℏω/e.</a:t>
            </a:r>
          </a:p>
        </p:txBody>
      </p:sp>
      <p:pic>
        <p:nvPicPr>
          <p:cNvPr id="80" name="Picture 79" descr="fig7_delta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040344" y="15366086"/>
            <a:ext cx="8823959" cy="6838100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21040344" y="22249906"/>
            <a:ext cx="8823959" cy="685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 i="1">
                <a:solidFill>
                  <a:srgbClr val="3A3A3A"/>
                </a:solidFill>
              </a:rPr>
              <a:t>Fig. 3. ΔD = d²I_mol/dV² − d²I_BL/dV². Each molecule gives a distinct peak pattern. Mol AB ≈ superposition of A + B (rank-1 linearity).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1040344" y="22357080"/>
            <a:ext cx="8823959" cy="749808"/>
          </a:xfrm>
          <a:prstGeom prst="rect">
            <a:avLst/>
          </a:prstGeom>
          <a:solidFill>
            <a:srgbClr val="FAE5D9"/>
          </a:solidFill>
          <a:ln w="19050">
            <a:solidFill>
              <a:srgbClr val="C05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1040344" y="22357080"/>
            <a:ext cx="8823959" cy="749808"/>
          </a:xfrm>
          <a:prstGeom prst="rect">
            <a:avLst/>
          </a:prstGeom>
          <a:noFill/>
        </p:spPr>
        <p:txBody>
          <a:bodyPr wrap="square" lIns="164592" rIns="164592" tIns="128016" bIns="54864">
            <a:spAutoFit/>
          </a:bodyPr>
          <a:lstStyle/>
          <a:p>
            <a:pPr algn="ctr"/>
            <a:r>
              <a:rPr sz="1500" b="1" i="0">
                <a:solidFill>
                  <a:srgbClr val="C0562A"/>
                </a:solidFill>
              </a:rPr>
              <a:t>Three synthetic odorants discriminated at 300 K — no cryogenic cooling.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0903184" y="23006303"/>
            <a:ext cx="9098280" cy="6217920"/>
          </a:xfrm>
          <a:prstGeom prst="rect">
            <a:avLst/>
          </a:prstGeom>
          <a:solidFill>
            <a:srgbClr val="F4F4F6"/>
          </a:solidFill>
          <a:ln w="12700">
            <a:solidFill>
              <a:srgbClr val="2C6F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20903184" y="23006303"/>
            <a:ext cx="9098280" cy="384048"/>
          </a:xfrm>
          <a:prstGeom prst="rect">
            <a:avLst/>
          </a:prstGeom>
          <a:solidFill>
            <a:srgbClr val="2C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0958048" y="23024591"/>
            <a:ext cx="8988552" cy="365759"/>
          </a:xfrm>
          <a:prstGeom prst="rect">
            <a:avLst/>
          </a:prstGeom>
          <a:noFill/>
        </p:spPr>
        <p:txBody>
          <a:bodyPr wrap="square" lIns="109728" rIns="54864" tIns="36576" bIns="18288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Temperature Dependence — Mol A (ℏω = 100 meV)</a:t>
            </a:r>
          </a:p>
        </p:txBody>
      </p:sp>
      <p:pic>
        <p:nvPicPr>
          <p:cNvPr id="87" name="Picture 86" descr="fig8_temp_dependenc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040344" y="23500080"/>
            <a:ext cx="8823959" cy="3386693"/>
          </a:xfrm>
          <a:prstGeom prst="rect">
            <a:avLst/>
          </a:prstGeom>
        </p:spPr>
      </p:pic>
      <p:sp>
        <p:nvSpPr>
          <p:cNvPr id="88" name="TextBox 87"/>
          <p:cNvSpPr txBox="1"/>
          <p:nvPr/>
        </p:nvSpPr>
        <p:spPr>
          <a:xfrm>
            <a:off x="21040344" y="26932493"/>
            <a:ext cx="8823959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 i="1">
                <a:solidFill>
                  <a:srgbClr val="3A3A3A"/>
                </a:solidFill>
              </a:rPr>
              <a:t>Fig. 4. 10–300 K. (a) Peak current: 73 nA (300 K) → 110 nA (10 K). (b) IETS peak sharpens at low T but remains resolvable at 300 K — RTD energy filtering preserves features beyond the 3k_BT broadening limit [2].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0903184" y="29388815"/>
            <a:ext cx="9098280" cy="6217920"/>
          </a:xfrm>
          <a:prstGeom prst="rect">
            <a:avLst/>
          </a:prstGeom>
          <a:solidFill>
            <a:srgbClr val="F4F4F6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20903184" y="29388815"/>
            <a:ext cx="9098280" cy="38404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0958048" y="29407103"/>
            <a:ext cx="8988552" cy="365759"/>
          </a:xfrm>
          <a:prstGeom prst="rect">
            <a:avLst/>
          </a:prstGeom>
          <a:noFill/>
        </p:spPr>
        <p:txBody>
          <a:bodyPr wrap="square" lIns="109728" rIns="54864" tIns="36576" bIns="18288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Fabrication: ALD Deposition Routes</a:t>
            </a:r>
          </a:p>
        </p:txBody>
      </p:sp>
      <p:graphicFrame>
        <p:nvGraphicFramePr>
          <p:cNvPr id="92" name="Table 91"/>
          <p:cNvGraphicFramePr>
            <a:graphicFrameLocks noGrp="1"/>
          </p:cNvGraphicFramePr>
          <p:nvPr/>
        </p:nvGraphicFramePr>
        <p:xfrm>
          <a:off x="21040344" y="29882591"/>
          <a:ext cx="8823956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1270"/>
                <a:gridCol w="1764791"/>
                <a:gridCol w="3706062"/>
                <a:gridCol w="1411833"/>
              </a:tblGrid>
              <a:tr h="585216"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</a:rPr>
                        <a:t>Layer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</a:rPr>
                        <a:t>Temp.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</a:rPr>
                        <a:t>Precursors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</a:rPr>
                        <a:t>Rate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3A3A3A"/>
                          </a:solidFill>
                        </a:rPr>
                        <a:t>ZnO (well)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3A3A3A"/>
                          </a:solidFill>
                        </a:rPr>
                        <a:t>RT–350 °C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3A3A3A"/>
                          </a:solidFill>
                        </a:rPr>
                        <a:t>DEZ + H₂O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3A3A3A"/>
                          </a:solidFill>
                        </a:rPr>
                        <a:t>1.5–2.0 Å/cyc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3A3A3A"/>
                          </a:solidFill>
                        </a:rPr>
                        <a:t>MgₓZn₁₋ₓO (barrier)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3A3A3A"/>
                          </a:solidFill>
                        </a:rPr>
                        <a:t>RT–350 °C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3A3A3A"/>
                          </a:solidFill>
                        </a:rPr>
                        <a:t>Mg(Cp)₂ + DEZ + H₂O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3A3A3A"/>
                          </a:solidFill>
                        </a:rPr>
                        <a:t>1.0–1.5 Å/cyc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A3A3A"/>
                          </a:solidFill>
                        </a:rPr>
                        <a:t>In₂O₃</a:t>
                      </a:r>
                    </a:p>
                  </a:txBody>
                  <a:tcPr>
                    <a:solidFill>
                      <a:srgbClr val="F4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A3A3A"/>
                          </a:solidFill>
                        </a:rPr>
                        <a:t>150–275 °C</a:t>
                      </a:r>
                    </a:p>
                  </a:txBody>
                  <a:tcPr>
                    <a:solidFill>
                      <a:srgbClr val="F4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A3A3A"/>
                          </a:solidFill>
                        </a:rPr>
                        <a:t>In(DMAMP)₂(OiPr) + H₂O</a:t>
                      </a:r>
                    </a:p>
                  </a:txBody>
                  <a:tcPr>
                    <a:solidFill>
                      <a:srgbClr val="F4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A3A3A"/>
                          </a:solidFill>
                        </a:rPr>
                        <a:t>0.3–0.5 Å/cyc</a:t>
                      </a:r>
                    </a:p>
                  </a:txBody>
                  <a:tcPr>
                    <a:solidFill>
                      <a:srgbClr val="F4F4F6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A3A3A"/>
                          </a:solidFill>
                        </a:rPr>
                        <a:t>κ-Ga₂O₃</a:t>
                      </a:r>
                    </a:p>
                  </a:txBody>
                  <a:tcPr>
                    <a:solidFill>
                      <a:srgbClr val="F4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A3A3A"/>
                          </a:solidFill>
                        </a:rPr>
                        <a:t>200–350 °C</a:t>
                      </a:r>
                    </a:p>
                  </a:txBody>
                  <a:tcPr>
                    <a:solidFill>
                      <a:srgbClr val="F4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A3A3A"/>
                          </a:solidFill>
                        </a:rPr>
                        <a:t>TMGa + O₂ plasma</a:t>
                      </a:r>
                    </a:p>
                  </a:txBody>
                  <a:tcPr>
                    <a:solidFill>
                      <a:srgbClr val="F4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A3A3A"/>
                          </a:solidFill>
                        </a:rPr>
                        <a:t>~0.5 Å/cyc</a:t>
                      </a:r>
                    </a:p>
                  </a:txBody>
                  <a:tcPr>
                    <a:solidFill>
                      <a:srgbClr val="F4F4F6"/>
                    </a:solidFill>
                  </a:tcPr>
                </a:tc>
              </a:tr>
            </a:tbl>
          </a:graphicData>
        </a:graphic>
      </p:graphicFrame>
      <p:sp>
        <p:nvSpPr>
          <p:cNvPr id="93" name="TextBox 92"/>
          <p:cNvSpPr txBox="1"/>
          <p:nvPr/>
        </p:nvSpPr>
        <p:spPr>
          <a:xfrm>
            <a:off x="21040344" y="32927544"/>
            <a:ext cx="8823959" cy="2560320"/>
          </a:xfrm>
          <a:prstGeom prst="rect">
            <a:avLst/>
          </a:prstGeom>
          <a:noFill/>
        </p:spPr>
        <p:txBody>
          <a:bodyPr wrap="square" tIns="54864" bIns="36576">
            <a:spAutoFit/>
          </a:bodyPr>
          <a:lstStyle/>
          <a:p>
            <a:pPr algn="l"/>
            <a:r>
              <a:rPr sz="1300" b="0" i="0">
                <a:solidFill>
                  <a:srgbClr val="3A3A3A"/>
                </a:solidFill>
              </a:rPr>
              <a:t>All layers depositable in a single ALD tool run below 350 °C — within the BEOL thermal budget.  MgZnO composition is controlled by the Mg(Cp)₂:DEZ pulse ratio (ΔEc = 1.57·x_Mg).  Wurtzite phase-stable at x_Mg ≤ 0.33, avoiding phase segregation.  Proposed device: ALD stack on CMOS backend test structure.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0903184" y="35771327"/>
            <a:ext cx="9098280" cy="2945008"/>
          </a:xfrm>
          <a:prstGeom prst="rect">
            <a:avLst/>
          </a:prstGeom>
          <a:solidFill>
            <a:srgbClr val="F4F4F6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20903184" y="35771327"/>
            <a:ext cx="9098280" cy="38404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20958048" y="35789615"/>
            <a:ext cx="8988552" cy="365759"/>
          </a:xfrm>
          <a:prstGeom prst="rect">
            <a:avLst/>
          </a:prstGeom>
          <a:noFill/>
        </p:spPr>
        <p:txBody>
          <a:bodyPr wrap="square" lIns="109728" rIns="54864" tIns="36576" bIns="18288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Conclusions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1067776" y="36319967"/>
            <a:ext cx="8823959" cy="731520"/>
          </a:xfrm>
          <a:prstGeom prst="rect">
            <a:avLst/>
          </a:prstGeom>
          <a:noFill/>
        </p:spPr>
        <p:txBody>
          <a:bodyPr wrap="square" tIns="54864" bIns="36576">
            <a:spAutoFit/>
          </a:bodyPr>
          <a:lstStyle/>
          <a:p>
            <a:pPr algn="l"/>
            <a:r>
              <a:rPr sz="1300" b="0" i="0">
                <a:solidFill>
                  <a:srgbClr val="3A3A3A"/>
                </a:solidFill>
              </a:rPr>
              <a:t>▶  High-CBO oxides (CBO &gt; 2 eV) resonate at 3–5 V — outside molecular vibration range.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1067776" y="37051487"/>
            <a:ext cx="8823959" cy="731520"/>
          </a:xfrm>
          <a:prstGeom prst="rect">
            <a:avLst/>
          </a:prstGeom>
          <a:noFill/>
        </p:spPr>
        <p:txBody>
          <a:bodyPr wrap="square" tIns="54864" bIns="36576">
            <a:spAutoFit/>
          </a:bodyPr>
          <a:lstStyle/>
          <a:p>
            <a:pPr algn="l"/>
            <a:r>
              <a:rPr sz="1300" b="0" i="0">
                <a:solidFill>
                  <a:srgbClr val="3A3A3A"/>
                </a:solidFill>
              </a:rPr>
              <a:t>▶  Design rule: CBO ≈ 0.5 eV aligns V_res with the 50–400 meV fingerprint band.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1067776" y="37783007"/>
            <a:ext cx="8823959" cy="731520"/>
          </a:xfrm>
          <a:prstGeom prst="rect">
            <a:avLst/>
          </a:prstGeom>
          <a:noFill/>
        </p:spPr>
        <p:txBody>
          <a:bodyPr wrap="square" tIns="54864" bIns="36576">
            <a:spAutoFit/>
          </a:bodyPr>
          <a:lstStyle/>
          <a:p>
            <a:pPr algn="l"/>
            <a:r>
              <a:rPr sz="1300" b="0" i="0">
                <a:solidFill>
                  <a:srgbClr val="3A3A3A"/>
                </a:solidFill>
              </a:rPr>
              <a:t>▶  ZnO/Mg₀.₃Zn₀.₇O: only oxide stack with experimental NDR + BEOL ALD + highest PVCR (6.3).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1067776" y="38514527"/>
            <a:ext cx="8823959" cy="731520"/>
          </a:xfrm>
          <a:prstGeom prst="rect">
            <a:avLst/>
          </a:prstGeom>
          <a:noFill/>
        </p:spPr>
        <p:txBody>
          <a:bodyPr wrap="square" tIns="54864" bIns="36576">
            <a:spAutoFit/>
          </a:bodyPr>
          <a:lstStyle/>
          <a:p>
            <a:pPr algn="l"/>
            <a:r>
              <a:rPr sz="1300" b="0" i="0">
                <a:solidFill>
                  <a:srgbClr val="3A3A3A"/>
                </a:solidFill>
              </a:rPr>
              <a:t>▶  NEGF–SCBA with Anderson mixing discriminates three odorants at 300 K.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1067776" y="39246047"/>
            <a:ext cx="8823959" cy="731520"/>
          </a:xfrm>
          <a:prstGeom prst="rect">
            <a:avLst/>
          </a:prstGeom>
          <a:noFill/>
        </p:spPr>
        <p:txBody>
          <a:bodyPr wrap="square" tIns="54864" bIns="36576">
            <a:spAutoFit/>
          </a:bodyPr>
          <a:lstStyle/>
          <a:p>
            <a:pPr algn="l"/>
            <a:r>
              <a:rPr sz="1300" b="0" i="0">
                <a:solidFill>
                  <a:srgbClr val="3A3A3A"/>
                </a:solidFill>
              </a:rPr>
              <a:t>▶  Full ALD fabrication route identified; next step: RTD on CMOS test structure.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20903184" y="38880928"/>
            <a:ext cx="9098280" cy="3739255"/>
          </a:xfrm>
          <a:prstGeom prst="rect">
            <a:avLst/>
          </a:prstGeom>
          <a:solidFill>
            <a:srgbClr val="F4F4F6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20903184" y="38880928"/>
            <a:ext cx="9098280" cy="38404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20958048" y="38899216"/>
            <a:ext cx="8988552" cy="365759"/>
          </a:xfrm>
          <a:prstGeom prst="rect">
            <a:avLst/>
          </a:prstGeom>
          <a:noFill/>
        </p:spPr>
        <p:txBody>
          <a:bodyPr wrap="square" lIns="109728" rIns="54864" tIns="36576" bIns="18288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References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1040344" y="39374704"/>
            <a:ext cx="4384548" cy="457200"/>
          </a:xfrm>
          <a:prstGeom prst="rect">
            <a:avLst/>
          </a:prstGeom>
          <a:noFill/>
        </p:spPr>
        <p:txBody>
          <a:bodyPr wrap="square" lIns="45720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A"/>
                </a:solidFill>
              </a:rPr>
              <a:t>[1] R.C. Jaklevic &amp; J. Lambe, PRL 17, 1139 (1966).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1040344" y="39831904"/>
            <a:ext cx="4384548" cy="457200"/>
          </a:xfrm>
          <a:prstGeom prst="rect">
            <a:avLst/>
          </a:prstGeom>
          <a:noFill/>
        </p:spPr>
        <p:txBody>
          <a:bodyPr wrap="square" lIns="45720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A"/>
                </a:solidFill>
              </a:rPr>
              <a:t>[2] A. Patil et al., Sci. Rep. 8, 128 (2018).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1040344" y="40289104"/>
            <a:ext cx="4384548" cy="457200"/>
          </a:xfrm>
          <a:prstGeom prst="rect">
            <a:avLst/>
          </a:prstGeom>
          <a:noFill/>
        </p:spPr>
        <p:txBody>
          <a:bodyPr wrap="square" lIns="45720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A"/>
                </a:solidFill>
              </a:rPr>
              <a:t>[3] S. Krishnamoorthy et al., SSE 46, 1633 (2002).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1040344" y="40746304"/>
            <a:ext cx="4384548" cy="457200"/>
          </a:xfrm>
          <a:prstGeom prst="rect">
            <a:avLst/>
          </a:prstGeom>
          <a:noFill/>
        </p:spPr>
        <p:txBody>
          <a:bodyPr wrap="square" lIns="45720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A"/>
                </a:solidFill>
              </a:rPr>
              <a:t>[4] I.-C. Cheng et al., IEEE EDL 36, 1330 (2015).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21040344" y="41203504"/>
            <a:ext cx="4384548" cy="457200"/>
          </a:xfrm>
          <a:prstGeom prst="rect">
            <a:avLst/>
          </a:prstGeom>
          <a:noFill/>
        </p:spPr>
        <p:txBody>
          <a:bodyPr wrap="square" lIns="45720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A"/>
                </a:solidFill>
              </a:rPr>
              <a:t>[5] S. Datta, Quantum Transport, Cambridge (2005).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21040344" y="41660704"/>
            <a:ext cx="4384548" cy="457200"/>
          </a:xfrm>
          <a:prstGeom prst="rect">
            <a:avLst/>
          </a:prstGeom>
          <a:noFill/>
        </p:spPr>
        <p:txBody>
          <a:bodyPr wrap="square" lIns="45720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A"/>
                </a:solidFill>
              </a:rPr>
              <a:t>[6] D.G. Anderson, J. ACM 12, 547 (1965).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5479756" y="39374704"/>
            <a:ext cx="4384548" cy="457200"/>
          </a:xfrm>
          <a:prstGeom prst="rect">
            <a:avLst/>
          </a:prstGeom>
          <a:noFill/>
        </p:spPr>
        <p:txBody>
          <a:bodyPr wrap="square" lIns="45720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A"/>
                </a:solidFill>
              </a:rPr>
              <a:t>[7] N. Pandey et al., Sci. Rep. 11, 11389 (2021).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25479756" y="39831904"/>
            <a:ext cx="4384548" cy="457200"/>
          </a:xfrm>
          <a:prstGeom prst="rect">
            <a:avLst/>
          </a:prstGeom>
          <a:noFill/>
        </p:spPr>
        <p:txBody>
          <a:bodyPr wrap="square" lIns="45720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A"/>
                </a:solidFill>
              </a:rPr>
              <a:t>[8] T.C.L.G. Sollner et al., APL 43, 588 (1983).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25479756" y="40289104"/>
            <a:ext cx="4384548" cy="457200"/>
          </a:xfrm>
          <a:prstGeom prst="rect">
            <a:avLst/>
          </a:prstGeom>
          <a:noFill/>
        </p:spPr>
        <p:txBody>
          <a:bodyPr wrap="square" lIns="45720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A"/>
                </a:solidFill>
              </a:rPr>
              <a:t>[9] C. Bayram et al., APL 96, 042103 (2010).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25479756" y="40746304"/>
            <a:ext cx="4384548" cy="457200"/>
          </a:xfrm>
          <a:prstGeom prst="rect">
            <a:avLst/>
          </a:prstGeom>
          <a:noFill/>
        </p:spPr>
        <p:txBody>
          <a:bodyPr wrap="square" lIns="45720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A"/>
                </a:solidFill>
              </a:rPr>
              <a:t>[10] Y. Kuang et al., ACS AEM 3, 795 (2021).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25479756" y="41203504"/>
            <a:ext cx="4384548" cy="457200"/>
          </a:xfrm>
          <a:prstGeom prst="rect">
            <a:avLst/>
          </a:prstGeom>
          <a:noFill/>
        </p:spPr>
        <p:txBody>
          <a:bodyPr wrap="square" lIns="45720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A"/>
                </a:solidFill>
              </a:rPr>
              <a:t>[11] J. Zhu et al., Nanotechnology 35 (2024).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25479756" y="41660704"/>
            <a:ext cx="4384548" cy="457200"/>
          </a:xfrm>
          <a:prstGeom prst="rect">
            <a:avLst/>
          </a:prstGeom>
          <a:noFill/>
        </p:spPr>
        <p:txBody>
          <a:bodyPr wrap="square" lIns="45720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A"/>
                </a:solidFill>
              </a:rPr>
              <a:t>[12] H. Yin et al., Sci. Rep. 7, 41567 (2017).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